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ECD250F-6BB6-42FA-A74D-6F5675BA87DB}">
  <a:tblStyle styleId="{6ECD250F-6BB6-42FA-A74D-6F5675BA87D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erb_t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35727" y="411480"/>
            <a:ext cx="1790095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097280" y="2331720"/>
            <a:ext cx="9997135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F646E"/>
                </a:solidFill>
                <a:latin typeface="Calibri"/>
                <a:ea typeface="Calibri"/>
                <a:cs typeface="Calibri"/>
                <a:sym typeface="Calibri"/>
              </a:rPr>
              <a:t>Частное учреждение профессионального образования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5F646E"/>
                </a:solidFill>
                <a:latin typeface="Calibri"/>
                <a:ea typeface="Calibri"/>
                <a:cs typeface="Calibri"/>
                <a:sym typeface="Calibri"/>
              </a:rPr>
              <a:t>«Высшая школа предпринимательства» (ЧУПО «ВШП»)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914400" y="3530675"/>
            <a:ext cx="103629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Курсовой проект - </a:t>
            </a:r>
            <a:r>
              <a:rPr b="1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Разработка базы данных для кофейни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914400" y="5212080"/>
            <a:ext cx="10362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Чернаков Артём Дмитриевич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914400" y="6217920"/>
            <a:ext cx="1036289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F646E"/>
                </a:solidFill>
                <a:latin typeface="Calibri"/>
                <a:ea typeface="Calibri"/>
                <a:cs typeface="Calibri"/>
                <a:sym typeface="Calibri"/>
              </a:rPr>
              <a:t>Тверь ·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4079"/>
          </a:solidFill>
          <a:ln>
            <a:noFill/>
          </a:ln>
        </p:spPr>
        <p:txBody>
          <a:bodyPr anchorCtr="0" anchor="ctr" bIns="45700" lIns="502900" spcFirstLastPara="1" rIns="91425" wrap="square" tIns="1097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Цель и задачи проекта</a:t>
            </a:r>
            <a:endParaRPr/>
          </a:p>
        </p:txBody>
      </p:sp>
      <p:sp>
        <p:nvSpPr>
          <p:cNvPr id="94" name="Google Shape;94;p14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4A86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/>
          <p:nvPr/>
        </p:nvSpPr>
        <p:spPr>
          <a:xfrm>
            <a:off x="640080" y="1417320"/>
            <a:ext cx="10911535" cy="1143000"/>
          </a:xfrm>
          <a:prstGeom prst="rect">
            <a:avLst/>
          </a:prstGeom>
          <a:solidFill>
            <a:srgbClr val="F1F3F6"/>
          </a:solidFill>
          <a:ln>
            <a:noFill/>
          </a:ln>
        </p:spPr>
        <p:txBody>
          <a:bodyPr anchorCtr="0" anchor="ctr" bIns="45700" lIns="274300" spcFirstLastPara="1" rIns="91425" wrap="square" tIns="13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Цель:</a:t>
            </a:r>
            <a:r>
              <a:rPr b="1" i="0" lang="en-US" sz="2000">
                <a:solidFill>
                  <a:srgbClr val="1B4079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b="0" i="0" lang="en-US" sz="20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спроектировать и реализовать реляционную базу данных для учёта основных процессов кофейни.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640080" y="2743200"/>
            <a:ext cx="10911600" cy="29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Задачи: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1.  изучить предметную область и выделить основные объекты учёта;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2.  проанализировать готовые системы автоматизации общепита;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3.  сформулировать требования к базе данных;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4.  выполнить концептуальное, логическое и физическое проектирование;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5.  нормализовать структуру (привести к 3НФ);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6.  реализовать базу в СУБД MySQL и наполнить данными;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7.  разработать и протестировать набор SQL-запросов.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4079"/>
          </a:solidFill>
          <a:ln>
            <a:noFill/>
          </a:ln>
        </p:spPr>
        <p:txBody>
          <a:bodyPr anchorCtr="0" anchor="ctr" bIns="45700" lIns="502900" spcFirstLastPara="1" rIns="91425" wrap="square" tIns="1097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Предметная область: кофейня</a:t>
            </a:r>
            <a:endParaRPr/>
          </a:p>
        </p:txBody>
      </p:sp>
      <p:sp>
        <p:nvSpPr>
          <p:cNvPr id="102" name="Google Shape;102;p15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4A86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5"/>
          <p:cNvSpPr txBox="1"/>
          <p:nvPr/>
        </p:nvSpPr>
        <p:spPr>
          <a:xfrm>
            <a:off x="640080" y="1417320"/>
            <a:ext cx="5852100" cy="27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Что нужно хранить и учитывать?</a:t>
            </a:r>
            <a:endParaRPr>
              <a:solidFill>
                <a:schemeClr val="dk1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12121"/>
              </a:buClr>
              <a:buSzPts val="1800"/>
              <a:buFont typeface="Calibri"/>
              <a:buChar char="●"/>
            </a:pPr>
            <a:r>
              <a:rPr b="0" i="0" lang="en-US" sz="18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Меню </a:t>
            </a:r>
            <a:r>
              <a:rPr lang="en-US" sz="18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b="0" i="0" lang="en-US" sz="18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блюда и напитки, цена, категория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800"/>
              <a:buFont typeface="Calibri"/>
              <a:buChar char="●"/>
            </a:pPr>
            <a:r>
              <a:rPr b="0" i="0" lang="en-US" sz="18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Клиенты </a:t>
            </a:r>
            <a:r>
              <a:rPr lang="en-US" sz="18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b="0" i="0" lang="en-US" sz="18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гости заведения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800"/>
              <a:buFont typeface="Calibri"/>
              <a:buChar char="●"/>
            </a:pPr>
            <a:r>
              <a:rPr b="0" i="0" lang="en-US" sz="18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Сотрудники </a:t>
            </a:r>
            <a:r>
              <a:rPr lang="en-US" sz="18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b="0" i="0" lang="en-US" sz="18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бариста, официанты, администраторы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800"/>
              <a:buFont typeface="Calibri"/>
              <a:buChar char="●"/>
            </a:pPr>
            <a:r>
              <a:rPr b="0" i="0" lang="en-US" sz="18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Столики </a:t>
            </a:r>
            <a:r>
              <a:rPr lang="en-US" sz="18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b="0" i="0" lang="en-US" sz="18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места в зале и их статус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800"/>
              <a:buFont typeface="Calibri"/>
              <a:buChar char="●"/>
            </a:pPr>
            <a:r>
              <a:rPr b="0" i="0" lang="en-US" sz="18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Заказы </a:t>
            </a:r>
            <a:r>
              <a:rPr lang="en-US" sz="18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b="0" i="0" lang="en-US" sz="18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что, кто и для кого оформил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800"/>
              <a:buFont typeface="Calibri"/>
              <a:buChar char="●"/>
            </a:pPr>
            <a:r>
              <a:rPr b="0" i="0" lang="en-US" sz="18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Состав заказа </a:t>
            </a:r>
            <a:r>
              <a:rPr lang="en-US" sz="18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b="0" i="0" lang="en-US" sz="18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позиции и количество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800"/>
              <a:buFont typeface="Calibri"/>
              <a:buChar char="●"/>
            </a:pPr>
            <a:r>
              <a:rPr b="0" i="0" lang="en-US" sz="18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Платежи </a:t>
            </a:r>
            <a:r>
              <a:rPr lang="en-US" sz="18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b="0" i="0" lang="en-US" sz="18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сумма, дата, способ оплаты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6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4079"/>
          </a:solidFill>
          <a:ln>
            <a:noFill/>
          </a:ln>
        </p:spPr>
        <p:txBody>
          <a:bodyPr anchorCtr="0" anchor="ctr" bIns="45700" lIns="502900" spcFirstLastPara="1" rIns="91425" wrap="square" tIns="1097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Зачем нужна база данных</a:t>
            </a:r>
            <a:endParaRPr/>
          </a:p>
        </p:txBody>
      </p:sp>
      <p:sp>
        <p:nvSpPr>
          <p:cNvPr id="109" name="Google Shape;109;p16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4A86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6"/>
          <p:cNvSpPr/>
          <p:nvPr/>
        </p:nvSpPr>
        <p:spPr>
          <a:xfrm>
            <a:off x="640080" y="1463040"/>
            <a:ext cx="5212200" cy="4755000"/>
          </a:xfrm>
          <a:prstGeom prst="rect">
            <a:avLst/>
          </a:prstGeom>
          <a:solidFill>
            <a:srgbClr val="F1F3F6"/>
          </a:solidFill>
          <a:ln>
            <a:noFill/>
          </a:ln>
        </p:spPr>
        <p:txBody>
          <a:bodyPr anchorCtr="0" anchor="ctr" bIns="45700" lIns="274300" spcFirstLastPara="1" rIns="228600" wrap="square" tIns="228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Бумага и Excel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7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ошибки при ручном вводе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7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дублирование данных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7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трудно искать нужное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7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нет контроля корректности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7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отчёты собираются вручную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7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риск потерять данные</a:t>
            </a:r>
            <a:endParaRPr/>
          </a:p>
        </p:txBody>
      </p:sp>
      <p:sp>
        <p:nvSpPr>
          <p:cNvPr id="111" name="Google Shape;111;p16"/>
          <p:cNvSpPr/>
          <p:nvPr/>
        </p:nvSpPr>
        <p:spPr>
          <a:xfrm>
            <a:off x="6309360" y="1463040"/>
            <a:ext cx="5212080" cy="4754880"/>
          </a:xfrm>
          <a:prstGeom prst="rect">
            <a:avLst/>
          </a:prstGeom>
          <a:solidFill>
            <a:srgbClr val="1B4079"/>
          </a:solidFill>
          <a:ln>
            <a:noFill/>
          </a:ln>
        </p:spPr>
        <p:txBody>
          <a:bodyPr anchorCtr="0" anchor="ctr" bIns="45700" lIns="274300" spcFirstLastPara="1" rIns="228600" wrap="square" tIns="228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Реляционная БД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данные вводятся один раз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целостность следит сама СУБД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быстрый поиск и выборки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невозможны «битые» ссылки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отчёты </a:t>
            </a:r>
            <a:r>
              <a:rPr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b="0" i="0"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одним запросом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единое надёжное хранилище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4079"/>
          </a:solidFill>
          <a:ln>
            <a:noFill/>
          </a:ln>
        </p:spPr>
        <p:txBody>
          <a:bodyPr anchorCtr="0" anchor="ctr" bIns="45700" lIns="502900" spcFirstLastPara="1" rIns="91425" wrap="square" tIns="1097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Обзор готовых решений</a:t>
            </a:r>
            <a:endParaRPr/>
          </a:p>
        </p:txBody>
      </p:sp>
      <p:sp>
        <p:nvSpPr>
          <p:cNvPr id="117" name="Google Shape;117;p17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4A86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8" name="Google Shape;118;p17"/>
          <p:cNvGraphicFramePr/>
          <p:nvPr/>
        </p:nvGraphicFramePr>
        <p:xfrm>
          <a:off x="640080" y="14630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{6ECD250F-6BB6-42FA-A74D-6F5675BA87DB}</a:tableStyleId>
              </a:tblPr>
              <a:tblGrid>
                <a:gridCol w="2926075"/>
                <a:gridCol w="2651750"/>
                <a:gridCol w="2651750"/>
                <a:gridCol w="2651750"/>
              </a:tblGrid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Критерий</a:t>
                      </a:r>
                      <a:endParaRPr/>
                    </a:p>
                  </a:txBody>
                  <a:tcPr marT="36575" marB="36575" marR="91450" marL="109725" anchor="ctr">
                    <a:solidFill>
                      <a:srgbClr val="1B407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iiko</a:t>
                      </a:r>
                      <a:endParaRPr/>
                    </a:p>
                  </a:txBody>
                  <a:tcPr marT="36575" marB="36575" marR="91450" marL="109725" anchor="ctr">
                    <a:solidFill>
                      <a:srgbClr val="1B407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R-Keeper</a:t>
                      </a:r>
                      <a:endParaRPr/>
                    </a:p>
                  </a:txBody>
                  <a:tcPr marT="36575" marB="36575" marR="91450" marL="109725" anchor="ctr">
                    <a:solidFill>
                      <a:srgbClr val="1B407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Poster</a:t>
                      </a:r>
                      <a:endParaRPr/>
                    </a:p>
                  </a:txBody>
                  <a:tcPr marT="36575" marB="36575" marR="91450" marL="109725" anchor="ctr">
                    <a:solidFill>
                      <a:srgbClr val="1B4079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Сегмент</a:t>
                      </a:r>
                      <a:endParaRPr/>
                    </a:p>
                  </a:txBody>
                  <a:tcPr marT="36575" marB="36575" marR="91450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Крупные сети</a:t>
                      </a:r>
                      <a:endParaRPr/>
                    </a:p>
                  </a:txBody>
                  <a:tcPr marT="36575" marB="36575" marR="91450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Рестораны</a:t>
                      </a:r>
                      <a:endParaRPr/>
                    </a:p>
                  </a:txBody>
                  <a:tcPr marT="36575" marB="36575" marR="91450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Малый бизнес</a:t>
                      </a:r>
                      <a:endParaRPr/>
                    </a:p>
                  </a:txBody>
                  <a:tcPr marT="36575" marB="36575" marR="91450" marL="109725" anchor="ctr"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Стоимость</a:t>
                      </a:r>
                      <a:endParaRPr/>
                    </a:p>
                  </a:txBody>
                  <a:tcPr marT="36575" marB="36575" marR="91450" marL="109725" anchor="ctr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Высокая</a:t>
                      </a:r>
                      <a:endParaRPr/>
                    </a:p>
                  </a:txBody>
                  <a:tcPr marT="36575" marB="36575" marR="91450" marL="109725" anchor="ctr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Высокая</a:t>
                      </a:r>
                      <a:endParaRPr/>
                    </a:p>
                  </a:txBody>
                  <a:tcPr marT="36575" marB="36575" marR="91450" marL="109725" anchor="ctr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Средняя</a:t>
                      </a:r>
                      <a:endParaRPr/>
                    </a:p>
                  </a:txBody>
                  <a:tcPr marT="36575" marB="36575" marR="91450" marL="109725" anchor="ctr">
                    <a:solidFill>
                      <a:srgbClr val="F1F3F6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Внедрение</a:t>
                      </a:r>
                      <a:endParaRPr/>
                    </a:p>
                  </a:txBody>
                  <a:tcPr marT="36575" marB="36575" marR="91450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Сложное</a:t>
                      </a:r>
                      <a:endParaRPr/>
                    </a:p>
                  </a:txBody>
                  <a:tcPr marT="36575" marB="36575" marR="91450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Сложное</a:t>
                      </a:r>
                      <a:endParaRPr/>
                    </a:p>
                  </a:txBody>
                  <a:tcPr marT="36575" marB="36575" marR="91450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Простое</a:t>
                      </a:r>
                      <a:endParaRPr/>
                    </a:p>
                  </a:txBody>
                  <a:tcPr marT="36575" marB="36575" marR="91450" marL="109725" anchor="ctr"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Гибкость схемы</a:t>
                      </a:r>
                      <a:endParaRPr/>
                    </a:p>
                  </a:txBody>
                  <a:tcPr marT="36575" marB="36575" marR="91450" marL="109725" anchor="ctr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Высокая</a:t>
                      </a:r>
                      <a:endParaRPr/>
                    </a:p>
                  </a:txBody>
                  <a:tcPr marT="36575" marB="36575" marR="91450" marL="109725" anchor="ctr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Средняя</a:t>
                      </a:r>
                      <a:endParaRPr/>
                    </a:p>
                  </a:txBody>
                  <a:tcPr marT="36575" marB="36575" marR="91450" marL="109725" anchor="ctr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Низкая</a:t>
                      </a:r>
                      <a:endParaRPr/>
                    </a:p>
                  </a:txBody>
                  <a:tcPr marT="36575" marB="36575" marR="91450" marL="109725" anchor="ctr">
                    <a:solidFill>
                      <a:srgbClr val="F1F3F6"/>
                    </a:solidFill>
                  </a:tcPr>
                </a:tc>
              </a:tr>
            </a:tbl>
          </a:graphicData>
        </a:graphic>
      </p:graphicFrame>
      <p:sp>
        <p:nvSpPr>
          <p:cNvPr id="119" name="Google Shape;119;p17"/>
          <p:cNvSpPr/>
          <p:nvPr/>
        </p:nvSpPr>
        <p:spPr>
          <a:xfrm>
            <a:off x="640080" y="4526280"/>
            <a:ext cx="10911535" cy="1463040"/>
          </a:xfrm>
          <a:prstGeom prst="rect">
            <a:avLst/>
          </a:prstGeom>
          <a:solidFill>
            <a:srgbClr val="F1F3F6"/>
          </a:solidFill>
          <a:ln>
            <a:noFill/>
          </a:ln>
        </p:spPr>
        <p:txBody>
          <a:bodyPr anchorCtr="0" anchor="ctr" bIns="45700" lIns="274300" spcFirstLastPara="1" rIns="91425" wrap="square" tIns="18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Вывод:</a:t>
            </a:r>
            <a:r>
              <a:rPr b="1" i="0" lang="en-US" sz="1800">
                <a:solidFill>
                  <a:srgbClr val="1B407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8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для небольшой кофейни готовые системы избыточны и дороги, а схему данных под себя не изменить. Собственная БД учитывает ровно то, что нужно, и легко расширяется.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8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4079"/>
          </a:solidFill>
          <a:ln>
            <a:noFill/>
          </a:ln>
        </p:spPr>
        <p:txBody>
          <a:bodyPr anchorCtr="0" anchor="ctr" bIns="45700" lIns="502900" spcFirstLastPara="1" rIns="91425" wrap="square" tIns="1097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Проектирование базы данных</a:t>
            </a:r>
            <a:endParaRPr/>
          </a:p>
        </p:txBody>
      </p:sp>
      <p:sp>
        <p:nvSpPr>
          <p:cNvPr id="125" name="Google Shape;125;p18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4A86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8"/>
          <p:cNvSpPr/>
          <p:nvPr/>
        </p:nvSpPr>
        <p:spPr>
          <a:xfrm>
            <a:off x="640080" y="1463040"/>
            <a:ext cx="3566160" cy="1554480"/>
          </a:xfrm>
          <a:prstGeom prst="rect">
            <a:avLst/>
          </a:prstGeom>
          <a:solidFill>
            <a:srgbClr val="1B4079"/>
          </a:solidFill>
          <a:ln>
            <a:noFill/>
          </a:ln>
        </p:spPr>
        <p:txBody>
          <a:bodyPr anchorCtr="0" anchor="ctr" bIns="45700" lIns="182875" spcFirstLastPara="1" rIns="91425" wrap="square" tIns="18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 Концептуальное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модель «сущность — связь»</a:t>
            </a:r>
            <a:endParaRPr/>
          </a:p>
        </p:txBody>
      </p:sp>
      <p:sp>
        <p:nvSpPr>
          <p:cNvPr id="127" name="Google Shape;127;p18"/>
          <p:cNvSpPr/>
          <p:nvPr/>
        </p:nvSpPr>
        <p:spPr>
          <a:xfrm>
            <a:off x="4370832" y="1463040"/>
            <a:ext cx="3566160" cy="1554480"/>
          </a:xfrm>
          <a:prstGeom prst="rect">
            <a:avLst/>
          </a:prstGeom>
          <a:solidFill>
            <a:srgbClr val="F1F3F6"/>
          </a:solidFill>
          <a:ln>
            <a:noFill/>
          </a:ln>
        </p:spPr>
        <p:txBody>
          <a:bodyPr anchorCtr="0" anchor="ctr" bIns="45700" lIns="182875" spcFirstLastPara="1" rIns="91425" wrap="square" tIns="18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Логическое</a:t>
            </a:r>
            <a:endParaRPr b="1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таблицы, ключи, связи</a:t>
            </a:r>
            <a:endParaRPr/>
          </a:p>
        </p:txBody>
      </p:sp>
      <p:sp>
        <p:nvSpPr>
          <p:cNvPr id="128" name="Google Shape;128;p18"/>
          <p:cNvSpPr/>
          <p:nvPr/>
        </p:nvSpPr>
        <p:spPr>
          <a:xfrm>
            <a:off x="8101584" y="1463040"/>
            <a:ext cx="3566160" cy="1554480"/>
          </a:xfrm>
          <a:prstGeom prst="rect">
            <a:avLst/>
          </a:prstGeom>
          <a:solidFill>
            <a:srgbClr val="F1F3F6"/>
          </a:solidFill>
          <a:ln>
            <a:noFill/>
          </a:ln>
        </p:spPr>
        <p:txBody>
          <a:bodyPr anchorCtr="0" anchor="ctr" bIns="45700" lIns="182875" spcFirstLastPara="1" rIns="91425" wrap="square" tIns="18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Физическое</a:t>
            </a:r>
            <a:endParaRPr b="1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типы данных под MySQL</a:t>
            </a:r>
            <a:endParaRPr/>
          </a:p>
        </p:txBody>
      </p:sp>
      <p:sp>
        <p:nvSpPr>
          <p:cNvPr id="129" name="Google Shape;129;p18"/>
          <p:cNvSpPr txBox="1"/>
          <p:nvPr/>
        </p:nvSpPr>
        <p:spPr>
          <a:xfrm>
            <a:off x="640080" y="3383280"/>
            <a:ext cx="10911600" cy="14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Выделено 7 сущностей </a:t>
            </a:r>
            <a:r>
              <a:rPr b="1"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b="1" i="0"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 таблиц: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20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Меню · Клиенты · Сотрудники · Столики · Заказы · Состав заказа · Платежи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700">
                <a:solidFill>
                  <a:srgbClr val="5F646E"/>
                </a:solidFill>
                <a:latin typeface="Calibri"/>
                <a:ea typeface="Calibri"/>
                <a:cs typeface="Calibri"/>
                <a:sym typeface="Calibri"/>
              </a:rPr>
              <a:t>Связь «Заказ </a:t>
            </a:r>
            <a:r>
              <a:rPr lang="en-US" sz="1700">
                <a:solidFill>
                  <a:srgbClr val="5F646E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b="0" i="0" lang="en-US" sz="1700">
                <a:solidFill>
                  <a:srgbClr val="5F646E"/>
                </a:solidFill>
                <a:latin typeface="Calibri"/>
                <a:ea typeface="Calibri"/>
                <a:cs typeface="Calibri"/>
                <a:sym typeface="Calibri"/>
              </a:rPr>
              <a:t>Меню» (многие-ко-многим) разбита через промежуточную таблицу «Состав заказа» </a:t>
            </a:r>
            <a:r>
              <a:rPr lang="en-US" sz="1700">
                <a:solidFill>
                  <a:srgbClr val="5F646E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b="0" i="0" lang="en-US" sz="1700">
                <a:solidFill>
                  <a:srgbClr val="5F646E"/>
                </a:solidFill>
                <a:latin typeface="Calibri"/>
                <a:ea typeface="Calibri"/>
                <a:cs typeface="Calibri"/>
                <a:sym typeface="Calibri"/>
              </a:rPr>
              <a:t>стандартный приём реляционного проектирования.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4079"/>
          </a:solidFill>
          <a:ln>
            <a:noFill/>
          </a:ln>
        </p:spPr>
        <p:txBody>
          <a:bodyPr anchorCtr="0" anchor="ctr" bIns="45700" lIns="502900" spcFirstLastPara="1" rIns="91425" wrap="square" tIns="1097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ER-диаграмма базы данных</a:t>
            </a:r>
            <a:endParaRPr/>
          </a:p>
        </p:txBody>
      </p:sp>
      <p:sp>
        <p:nvSpPr>
          <p:cNvPr id="135" name="Google Shape;135;p19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4A86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b_erd.png" id="136" name="Google Shape;13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417320"/>
            <a:ext cx="3933248" cy="493776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9"/>
          <p:cNvSpPr txBox="1"/>
          <p:nvPr/>
        </p:nvSpPr>
        <p:spPr>
          <a:xfrm>
            <a:off x="7680960" y="1645920"/>
            <a:ext cx="4023300" cy="22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Схема в MySQL Workbench</a:t>
            </a:r>
            <a:endParaRPr>
              <a:solidFill>
                <a:schemeClr val="dk1"/>
              </a:solidFill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212121"/>
              </a:buClr>
              <a:buSzPts val="1600"/>
              <a:buFont typeface="Calibri"/>
              <a:buChar char="●"/>
            </a:pPr>
            <a:r>
              <a:rPr b="0" i="0"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7 таблиц со своими полями</a:t>
            </a:r>
            <a:endParaRPr/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600"/>
              <a:buFont typeface="Calibri"/>
              <a:buChar char="●"/>
            </a:pPr>
            <a:r>
              <a:rPr b="0" i="0"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первичные ключи (PK)</a:t>
            </a:r>
            <a:endParaRPr/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600"/>
              <a:buFont typeface="Calibri"/>
              <a:buChar char="●"/>
            </a:pPr>
            <a:r>
              <a:rPr b="0" i="0"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внешние ключи (FK) </a:t>
            </a:r>
            <a:r>
              <a:rPr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b="0" i="0"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линии связей</a:t>
            </a:r>
            <a:endParaRPr/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600"/>
              <a:buFont typeface="Calibri"/>
              <a:buChar char="●"/>
            </a:pPr>
            <a:r>
              <a:rPr b="0" i="0"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customerorders в центре связывает клиента, сотрудника и столик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4079"/>
          </a:solidFill>
          <a:ln>
            <a:noFill/>
          </a:ln>
        </p:spPr>
        <p:txBody>
          <a:bodyPr anchorCtr="0" anchor="ctr" bIns="45700" lIns="502900" spcFirstLastPara="1" rIns="91425" wrap="square" tIns="1097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Структура: 7 таблиц</a:t>
            </a:r>
            <a:endParaRPr/>
          </a:p>
        </p:txBody>
      </p:sp>
      <p:sp>
        <p:nvSpPr>
          <p:cNvPr id="143" name="Google Shape;143;p20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4A86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4" name="Google Shape;144;p20"/>
          <p:cNvGraphicFramePr/>
          <p:nvPr/>
        </p:nvGraphicFramePr>
        <p:xfrm>
          <a:off x="822960" y="14173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{6ECD250F-6BB6-42FA-A74D-6F5675BA87DB}</a:tableStyleId>
              </a:tblPr>
              <a:tblGrid>
                <a:gridCol w="3291850"/>
                <a:gridCol w="4937750"/>
                <a:gridCol w="2286000"/>
              </a:tblGrid>
              <a:tr h="605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Таблица</a:t>
                      </a:r>
                      <a:endParaRPr/>
                    </a:p>
                  </a:txBody>
                  <a:tcPr marT="45725" marB="45725" marR="91450" marL="137150" anchor="ctr">
                    <a:solidFill>
                      <a:srgbClr val="1B407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Назначение</a:t>
                      </a:r>
                      <a:endParaRPr/>
                    </a:p>
                  </a:txBody>
                  <a:tcPr marT="45725" marB="45725" marR="91450" marL="137150" anchor="ctr">
                    <a:solidFill>
                      <a:srgbClr val="1B407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Ключ</a:t>
                      </a:r>
                      <a:endParaRPr/>
                    </a:p>
                  </a:txBody>
                  <a:tcPr marT="45725" marB="45725" marR="91450" marL="137150" anchor="ctr">
                    <a:solidFill>
                      <a:srgbClr val="1B4079"/>
                    </a:solidFill>
                  </a:tcPr>
                </a:tc>
              </a:tr>
              <a:tr h="605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21212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customers</a:t>
                      </a:r>
                      <a:endParaRPr/>
                    </a:p>
                  </a:txBody>
                  <a:tcPr marT="45725" marB="45725" marR="91450" marL="13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клиенты заведения</a:t>
                      </a:r>
                      <a:endParaRPr/>
                    </a:p>
                  </a:txBody>
                  <a:tcPr marT="45725" marB="45725" marR="91450" marL="13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21212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CustomerID</a:t>
                      </a:r>
                      <a:endParaRPr/>
                    </a:p>
                  </a:txBody>
                  <a:tcPr marT="45725" marB="45725" marR="91450" marL="137150" anchor="ctr">
                    <a:solidFill>
                      <a:srgbClr val="FFFFFF"/>
                    </a:solidFill>
                  </a:tcPr>
                </a:tc>
              </a:tr>
              <a:tr h="605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21212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employees</a:t>
                      </a:r>
                      <a:endParaRPr/>
                    </a:p>
                  </a:txBody>
                  <a:tcPr marT="45725" marB="45725" marR="91450" marL="137150" anchor="ctr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сотрудники</a:t>
                      </a:r>
                      <a:endParaRPr/>
                    </a:p>
                  </a:txBody>
                  <a:tcPr marT="45725" marB="45725" marR="91450" marL="137150" anchor="ctr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21212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EmployeeID</a:t>
                      </a:r>
                      <a:endParaRPr/>
                    </a:p>
                  </a:txBody>
                  <a:tcPr marT="45725" marB="45725" marR="91450" marL="137150" anchor="ctr">
                    <a:solidFill>
                      <a:srgbClr val="F1F3F6"/>
                    </a:solidFill>
                  </a:tcPr>
                </a:tc>
              </a:tr>
              <a:tr h="605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21212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tables</a:t>
                      </a:r>
                      <a:endParaRPr/>
                    </a:p>
                  </a:txBody>
                  <a:tcPr marT="45725" marB="45725" marR="91450" marL="13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столики в зале</a:t>
                      </a:r>
                      <a:endParaRPr/>
                    </a:p>
                  </a:txBody>
                  <a:tcPr marT="45725" marB="45725" marR="91450" marL="13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21212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TableID</a:t>
                      </a:r>
                      <a:endParaRPr/>
                    </a:p>
                  </a:txBody>
                  <a:tcPr marT="45725" marB="45725" marR="91450" marL="137150" anchor="ctr">
                    <a:solidFill>
                      <a:srgbClr val="FFFFFF"/>
                    </a:solidFill>
                  </a:tcPr>
                </a:tc>
              </a:tr>
              <a:tr h="605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21212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menu</a:t>
                      </a:r>
                      <a:endParaRPr/>
                    </a:p>
                  </a:txBody>
                  <a:tcPr marT="45725" marB="45725" marR="91450" marL="137150" anchor="ctr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позиции меню</a:t>
                      </a:r>
                      <a:endParaRPr/>
                    </a:p>
                  </a:txBody>
                  <a:tcPr marT="45725" marB="45725" marR="91450" marL="137150" anchor="ctr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21212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MenuID</a:t>
                      </a:r>
                      <a:endParaRPr/>
                    </a:p>
                  </a:txBody>
                  <a:tcPr marT="45725" marB="45725" marR="91450" marL="137150" anchor="ctr">
                    <a:solidFill>
                      <a:srgbClr val="F1F3F6"/>
                    </a:solidFill>
                  </a:tcPr>
                </a:tc>
              </a:tr>
              <a:tr h="605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21212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customerorders</a:t>
                      </a:r>
                      <a:endParaRPr/>
                    </a:p>
                  </a:txBody>
                  <a:tcPr marT="45725" marB="45725" marR="91450" marL="13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заказы клиентов</a:t>
                      </a:r>
                      <a:endParaRPr/>
                    </a:p>
                  </a:txBody>
                  <a:tcPr marT="45725" marB="45725" marR="91450" marL="13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21212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OrderID</a:t>
                      </a:r>
                      <a:endParaRPr/>
                    </a:p>
                  </a:txBody>
                  <a:tcPr marT="45725" marB="45725" marR="91450" marL="137150" anchor="ctr">
                    <a:solidFill>
                      <a:srgbClr val="FFFFFF"/>
                    </a:solidFill>
                  </a:tcPr>
                </a:tc>
              </a:tr>
              <a:tr h="605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21212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orderdetails</a:t>
                      </a:r>
                      <a:endParaRPr/>
                    </a:p>
                  </a:txBody>
                  <a:tcPr marT="45725" marB="45725" marR="91450" marL="137150" anchor="ctr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состав заказов</a:t>
                      </a:r>
                      <a:endParaRPr/>
                    </a:p>
                  </a:txBody>
                  <a:tcPr marT="45725" marB="45725" marR="91450" marL="137150" anchor="ctr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21212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OrderDetailID</a:t>
                      </a:r>
                      <a:endParaRPr/>
                    </a:p>
                  </a:txBody>
                  <a:tcPr marT="45725" marB="45725" marR="91450" marL="137150" anchor="ctr">
                    <a:solidFill>
                      <a:srgbClr val="F1F3F6"/>
                    </a:solidFill>
                  </a:tcPr>
                </a:tc>
              </a:tr>
              <a:tr h="605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21212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payments</a:t>
                      </a:r>
                      <a:endParaRPr/>
                    </a:p>
                  </a:txBody>
                  <a:tcPr marT="45725" marB="45725" marR="91450" marL="13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платежи по заказам</a:t>
                      </a:r>
                      <a:endParaRPr/>
                    </a:p>
                  </a:txBody>
                  <a:tcPr marT="45725" marB="45725" marR="91450" marL="13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21212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PaymentID</a:t>
                      </a:r>
                      <a:endParaRPr/>
                    </a:p>
                  </a:txBody>
                  <a:tcPr marT="45725" marB="45725" marR="91450" marL="13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4079"/>
          </a:solidFill>
          <a:ln>
            <a:noFill/>
          </a:ln>
        </p:spPr>
        <p:txBody>
          <a:bodyPr anchorCtr="0" anchor="ctr" bIns="45700" lIns="502900" spcFirstLastPara="1" rIns="91425" wrap="square" tIns="1097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Нормализация (до 3НФ)</a:t>
            </a:r>
            <a:endParaRPr/>
          </a:p>
        </p:txBody>
      </p:sp>
      <p:sp>
        <p:nvSpPr>
          <p:cNvPr id="150" name="Google Shape;150;p21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4A86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1"/>
          <p:cNvSpPr/>
          <p:nvPr/>
        </p:nvSpPr>
        <p:spPr>
          <a:xfrm>
            <a:off x="640080" y="1463040"/>
            <a:ext cx="1554480" cy="1371600"/>
          </a:xfrm>
          <a:prstGeom prst="rect">
            <a:avLst/>
          </a:prstGeom>
          <a:solidFill>
            <a:srgbClr val="1B407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1НФ</a:t>
            </a:r>
            <a:endParaRPr/>
          </a:p>
        </p:txBody>
      </p:sp>
      <p:sp>
        <p:nvSpPr>
          <p:cNvPr id="152" name="Google Shape;152;p21"/>
          <p:cNvSpPr/>
          <p:nvPr/>
        </p:nvSpPr>
        <p:spPr>
          <a:xfrm>
            <a:off x="2377440" y="1463040"/>
            <a:ext cx="9174175" cy="1371600"/>
          </a:xfrm>
          <a:prstGeom prst="rect">
            <a:avLst/>
          </a:prstGeom>
          <a:solidFill>
            <a:srgbClr val="F1F3F6"/>
          </a:solidFill>
          <a:ln>
            <a:noFill/>
          </a:ln>
        </p:spPr>
        <p:txBody>
          <a:bodyPr anchorCtr="0" anchor="ctr" bIns="45700" lIns="274300" spcFirstLastPara="1" rIns="91425" wrap="square" tIns="164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Все значения атомарны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b="0" i="0"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состав заказа вынесен в отдельную таблицу, а не списком в одном поле</a:t>
            </a:r>
            <a:endParaRPr/>
          </a:p>
        </p:txBody>
      </p:sp>
      <p:sp>
        <p:nvSpPr>
          <p:cNvPr id="153" name="Google Shape;153;p21"/>
          <p:cNvSpPr/>
          <p:nvPr/>
        </p:nvSpPr>
        <p:spPr>
          <a:xfrm>
            <a:off x="640080" y="3017520"/>
            <a:ext cx="1554480" cy="1371600"/>
          </a:xfrm>
          <a:prstGeom prst="rect">
            <a:avLst/>
          </a:prstGeom>
          <a:solidFill>
            <a:srgbClr val="1B407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2НФ</a:t>
            </a:r>
            <a:endParaRPr/>
          </a:p>
        </p:txBody>
      </p:sp>
      <p:sp>
        <p:nvSpPr>
          <p:cNvPr id="154" name="Google Shape;154;p21"/>
          <p:cNvSpPr/>
          <p:nvPr/>
        </p:nvSpPr>
        <p:spPr>
          <a:xfrm>
            <a:off x="2377440" y="3017520"/>
            <a:ext cx="9174175" cy="1371600"/>
          </a:xfrm>
          <a:prstGeom prst="rect">
            <a:avLst/>
          </a:prstGeom>
          <a:solidFill>
            <a:srgbClr val="F1F3F6"/>
          </a:solidFill>
          <a:ln>
            <a:noFill/>
          </a:ln>
        </p:spPr>
        <p:txBody>
          <a:bodyPr anchorCtr="0" anchor="ctr" bIns="45700" lIns="274300" spcFirstLastPara="1" rIns="91425" wrap="square" tIns="164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Поля зависят от всего ключа</a:t>
            </a:r>
            <a:endParaRPr b="1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b="0" i="0"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ключи простые (автоинкремент) </a:t>
            </a:r>
            <a:r>
              <a:rPr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b="0" i="0"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частичных зависимостей нет</a:t>
            </a:r>
            <a:endParaRPr/>
          </a:p>
        </p:txBody>
      </p:sp>
      <p:sp>
        <p:nvSpPr>
          <p:cNvPr id="155" name="Google Shape;155;p21"/>
          <p:cNvSpPr/>
          <p:nvPr/>
        </p:nvSpPr>
        <p:spPr>
          <a:xfrm>
            <a:off x="640080" y="4572000"/>
            <a:ext cx="1554480" cy="1371600"/>
          </a:xfrm>
          <a:prstGeom prst="rect">
            <a:avLst/>
          </a:prstGeom>
          <a:solidFill>
            <a:srgbClr val="1B407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3НФ</a:t>
            </a:r>
            <a:endParaRPr/>
          </a:p>
        </p:txBody>
      </p:sp>
      <p:sp>
        <p:nvSpPr>
          <p:cNvPr id="156" name="Google Shape;156;p21"/>
          <p:cNvSpPr/>
          <p:nvPr/>
        </p:nvSpPr>
        <p:spPr>
          <a:xfrm>
            <a:off x="2377440" y="4572000"/>
            <a:ext cx="9174175" cy="1371600"/>
          </a:xfrm>
          <a:prstGeom prst="rect">
            <a:avLst/>
          </a:prstGeom>
          <a:solidFill>
            <a:srgbClr val="F1F3F6"/>
          </a:solidFill>
          <a:ln>
            <a:noFill/>
          </a:ln>
        </p:spPr>
        <p:txBody>
          <a:bodyPr anchorCtr="0" anchor="ctr" bIns="45700" lIns="274300" spcFirstLastPara="1" rIns="91425" wrap="square" tIns="164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Нет лишних зависимостей</a:t>
            </a:r>
            <a:endParaRPr b="1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b="0" i="0"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в заказе хранится только CustomerID, а не имя и телефон клиента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4079"/>
          </a:solidFill>
          <a:ln>
            <a:noFill/>
          </a:ln>
        </p:spPr>
        <p:txBody>
          <a:bodyPr anchorCtr="0" anchor="ctr" bIns="45700" lIns="502900" spcFirstLastPara="1" rIns="91425" wrap="square" tIns="1097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Инструменты и методы</a:t>
            </a:r>
            <a:endParaRPr/>
          </a:p>
        </p:txBody>
      </p:sp>
      <p:sp>
        <p:nvSpPr>
          <p:cNvPr id="162" name="Google Shape;162;p2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4A86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2"/>
          <p:cNvSpPr txBox="1"/>
          <p:nvPr/>
        </p:nvSpPr>
        <p:spPr>
          <a:xfrm>
            <a:off x="640080" y="1463040"/>
            <a:ext cx="5669400" cy="19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Технологии</a:t>
            </a:r>
            <a:endParaRPr>
              <a:solidFill>
                <a:schemeClr val="dk1"/>
              </a:solidFill>
            </a:endParaRPr>
          </a:p>
          <a:p>
            <a:pPr indent="-3365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700"/>
              <a:buFont typeface="Calibri"/>
              <a:buChar char="●"/>
            </a:pPr>
            <a:r>
              <a:rPr b="0" i="0" lang="en-US" sz="17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MySQL 8.0 </a:t>
            </a:r>
            <a:r>
              <a:rPr lang="en-US" sz="17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b="0" i="0" lang="en-US" sz="17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СУБД (движок InnoDB)</a:t>
            </a:r>
            <a:endParaRPr/>
          </a:p>
          <a:p>
            <a:pPr indent="-3365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700"/>
              <a:buFont typeface="Calibri"/>
              <a:buChar char="●"/>
            </a:pPr>
            <a:r>
              <a:rPr b="0" i="0" lang="en-US" sz="17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MySQL Workbench </a:t>
            </a:r>
            <a:r>
              <a:rPr lang="en-US" sz="17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b="0" i="0" lang="en-US" sz="17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проектирование схемы и ER-диаграмма</a:t>
            </a:r>
            <a:endParaRPr/>
          </a:p>
          <a:p>
            <a:pPr indent="-3365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700"/>
              <a:buFont typeface="Calibri"/>
              <a:buChar char="●"/>
            </a:pPr>
            <a:r>
              <a:rPr b="0" i="0" lang="en-US" sz="17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SQL </a:t>
            </a:r>
            <a:r>
              <a:rPr lang="en-US" sz="17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b="0" i="0" lang="en-US" sz="17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создание таблиц, запросы, тестирование</a:t>
            </a:r>
            <a:endParaRPr/>
          </a:p>
          <a:p>
            <a:pPr indent="-3365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700"/>
              <a:buFont typeface="Calibri"/>
              <a:buChar char="●"/>
            </a:pPr>
            <a:r>
              <a:rPr b="0" i="0" lang="en-US" sz="17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кодировка utf8mb4 </a:t>
            </a:r>
            <a:r>
              <a:rPr lang="en-US" sz="17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b="0" i="0" lang="en-US" sz="17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корректный русский текст</a:t>
            </a:r>
            <a:endParaRPr/>
          </a:p>
        </p:txBody>
      </p:sp>
      <p:sp>
        <p:nvSpPr>
          <p:cNvPr id="164" name="Google Shape;164;p22"/>
          <p:cNvSpPr txBox="1"/>
          <p:nvPr/>
        </p:nvSpPr>
        <p:spPr>
          <a:xfrm>
            <a:off x="6309475" y="1463050"/>
            <a:ext cx="5323800" cy="18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ИИ-инструменты</a:t>
            </a:r>
            <a:endParaRPr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212121"/>
              </a:buClr>
              <a:buSzPts val="1700"/>
              <a:buFont typeface="Calibri"/>
              <a:buChar char="●"/>
            </a:pPr>
            <a:r>
              <a:rPr lang="en-US" sz="17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схема БД и SQL-запросы разработаны самостоятельно;</a:t>
            </a:r>
            <a:endParaRPr sz="16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700"/>
              <a:buFont typeface="Calibri"/>
              <a:buChar char="●"/>
            </a:pPr>
            <a:r>
              <a:rPr lang="en-US" sz="17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ИИ-ассистент (Claude) использовался как помощник при проверке sql кода;</a:t>
            </a:r>
            <a:endParaRPr sz="16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4079"/>
          </a:solidFill>
          <a:ln>
            <a:noFill/>
          </a:ln>
        </p:spPr>
        <p:txBody>
          <a:bodyPr anchorCtr="0" anchor="ctr" bIns="45700" lIns="502900" spcFirstLastPara="1" rIns="91425" wrap="square" tIns="1097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Целостность данных</a:t>
            </a:r>
            <a:endParaRPr/>
          </a:p>
        </p:txBody>
      </p:sp>
      <p:sp>
        <p:nvSpPr>
          <p:cNvPr id="170" name="Google Shape;170;p2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4A86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3"/>
          <p:cNvSpPr/>
          <p:nvPr/>
        </p:nvSpPr>
        <p:spPr>
          <a:xfrm>
            <a:off x="640080" y="1463040"/>
            <a:ext cx="3566160" cy="2377440"/>
          </a:xfrm>
          <a:prstGeom prst="rect">
            <a:avLst/>
          </a:prstGeom>
          <a:solidFill>
            <a:srgbClr val="F1F3F6"/>
          </a:solidFill>
          <a:ln>
            <a:noFill/>
          </a:ln>
        </p:spPr>
        <p:txBody>
          <a:bodyPr anchorCtr="0" anchor="ctr" bIns="45700" lIns="201150" spcFirstLastPara="1" rIns="182875" wrap="square" tIns="201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PRIMARY KEY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у каждой строки уникальный идентификатор</a:t>
            </a:r>
            <a:endParaRPr/>
          </a:p>
        </p:txBody>
      </p:sp>
      <p:sp>
        <p:nvSpPr>
          <p:cNvPr id="172" name="Google Shape;172;p23"/>
          <p:cNvSpPr/>
          <p:nvPr/>
        </p:nvSpPr>
        <p:spPr>
          <a:xfrm>
            <a:off x="4370832" y="1463040"/>
            <a:ext cx="3566160" cy="2377440"/>
          </a:xfrm>
          <a:prstGeom prst="rect">
            <a:avLst/>
          </a:prstGeom>
          <a:solidFill>
            <a:srgbClr val="F1F3F6"/>
          </a:solidFill>
          <a:ln>
            <a:noFill/>
          </a:ln>
        </p:spPr>
        <p:txBody>
          <a:bodyPr anchorCtr="0" anchor="ctr" bIns="45700" lIns="201150" spcFirstLastPara="1" rIns="182875" wrap="square" tIns="201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UNIQUE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запрет дублей</a:t>
            </a:r>
            <a:endParaRPr/>
          </a:p>
        </p:txBody>
      </p:sp>
      <p:sp>
        <p:nvSpPr>
          <p:cNvPr id="173" name="Google Shape;173;p23"/>
          <p:cNvSpPr/>
          <p:nvPr/>
        </p:nvSpPr>
        <p:spPr>
          <a:xfrm>
            <a:off x="8101584" y="1463040"/>
            <a:ext cx="3566160" cy="2377440"/>
          </a:xfrm>
          <a:prstGeom prst="rect">
            <a:avLst/>
          </a:prstGeom>
          <a:solidFill>
            <a:srgbClr val="F1F3F6"/>
          </a:solidFill>
          <a:ln>
            <a:noFill/>
          </a:ln>
        </p:spPr>
        <p:txBody>
          <a:bodyPr anchorCtr="0" anchor="ctr" bIns="45700" lIns="201150" spcFirstLastPara="1" rIns="182875" wrap="square" tIns="201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FOREIGN KEY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ссылки ведут только на существующие строки</a:t>
            </a:r>
            <a:endParaRPr/>
          </a:p>
        </p:txBody>
      </p:sp>
      <p:sp>
        <p:nvSpPr>
          <p:cNvPr id="174" name="Google Shape;174;p23"/>
          <p:cNvSpPr/>
          <p:nvPr/>
        </p:nvSpPr>
        <p:spPr>
          <a:xfrm>
            <a:off x="640080" y="4114800"/>
            <a:ext cx="10911535" cy="1828800"/>
          </a:xfrm>
          <a:prstGeom prst="rect">
            <a:avLst/>
          </a:prstGeom>
          <a:solidFill>
            <a:srgbClr val="1B4079"/>
          </a:solidFill>
          <a:ln>
            <a:noFill/>
          </a:ln>
        </p:spPr>
        <p:txBody>
          <a:bodyPr anchorCtr="0" anchor="ctr" bIns="45700" lIns="274300" spcFirstLastPara="1" rIns="91425" wrap="square" tIns="18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Правила при удалении подобраны по смыслу: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CASCADE </a:t>
            </a:r>
            <a:r>
              <a:rPr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b="0" i="0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удалили заказ </a:t>
            </a:r>
            <a:r>
              <a:rPr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b="0" i="0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ушли его состав и платёж;   SET NULL — уволили сотрудника </a:t>
            </a:r>
            <a:r>
              <a:rPr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b="0" i="0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заказ и история продаж сохранились.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4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4079"/>
          </a:solidFill>
          <a:ln>
            <a:noFill/>
          </a:ln>
        </p:spPr>
        <p:txBody>
          <a:bodyPr anchorCtr="0" anchor="ctr" bIns="45700" lIns="502900" spcFirstLastPara="1" rIns="91425" wrap="square" tIns="1097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Результаты и тестирование</a:t>
            </a:r>
            <a:endParaRPr/>
          </a:p>
        </p:txBody>
      </p:sp>
      <p:sp>
        <p:nvSpPr>
          <p:cNvPr id="180" name="Google Shape;180;p24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4A86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4"/>
          <p:cNvSpPr txBox="1"/>
          <p:nvPr/>
        </p:nvSpPr>
        <p:spPr>
          <a:xfrm>
            <a:off x="640080" y="1417320"/>
            <a:ext cx="5486400" cy="21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Запросы под реальные сценарии</a:t>
            </a:r>
            <a:endParaRPr>
              <a:solidFill>
                <a:schemeClr val="dk1"/>
              </a:solidFill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212121"/>
              </a:buClr>
              <a:buSzPts val="1600"/>
              <a:buFont typeface="Calibri"/>
              <a:buChar char="●"/>
            </a:pPr>
            <a:r>
              <a:rPr b="0" i="0"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меню доступных напитков по цене</a:t>
            </a:r>
            <a:endParaRPr/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600"/>
              <a:buFont typeface="Calibri"/>
              <a:buChar char="●"/>
            </a:pPr>
            <a:r>
              <a:rPr b="0" i="0"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сборка чека по заказу (JOIN 3 таблиц)</a:t>
            </a:r>
            <a:endParaRPr/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600"/>
              <a:buFont typeface="Calibri"/>
              <a:buChar char="●"/>
            </a:pPr>
            <a:r>
              <a:rPr b="0" i="0"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топ-5 продаваемых позиций</a:t>
            </a:r>
            <a:endParaRPr/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600"/>
              <a:buFont typeface="Calibri"/>
              <a:buChar char="●"/>
            </a:pPr>
            <a:r>
              <a:rPr b="0" i="0"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выручка за месяц по способам оплаты</a:t>
            </a:r>
            <a:endParaRPr/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600"/>
              <a:buFont typeface="Calibri"/>
              <a:buChar char="●"/>
            </a:pPr>
            <a:r>
              <a:rPr b="0" i="0"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занять столик (UPDATE)</a:t>
            </a:r>
            <a:endParaRPr/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600"/>
              <a:buFont typeface="Calibri"/>
              <a:buChar char="●"/>
            </a:pPr>
            <a:r>
              <a:rPr b="0" i="0"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активность клиентов (LEFT JOIN)</a:t>
            </a:r>
            <a:endParaRPr/>
          </a:p>
        </p:txBody>
      </p:sp>
      <p:graphicFrame>
        <p:nvGraphicFramePr>
          <p:cNvPr id="182" name="Google Shape;182;p24"/>
          <p:cNvGraphicFramePr/>
          <p:nvPr/>
        </p:nvGraphicFramePr>
        <p:xfrm>
          <a:off x="6400800" y="15544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{6ECD250F-6BB6-42FA-A74D-6F5675BA87DB}</a:tableStyleId>
              </a:tblPr>
              <a:tblGrid>
                <a:gridCol w="3657600"/>
                <a:gridCol w="1463050"/>
              </a:tblGrid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Проверка</a:t>
                      </a:r>
                      <a:endParaRPr/>
                    </a:p>
                  </a:txBody>
                  <a:tcPr marT="45725" marB="45725" marR="91450" marL="109725" anchor="ctr">
                    <a:solidFill>
                      <a:srgbClr val="1B407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Итог</a:t>
                      </a:r>
                      <a:endParaRPr/>
                    </a:p>
                  </a:txBody>
                  <a:tcPr marT="45725" marB="45725" marR="91450" marL="109725" anchor="ctr">
                    <a:solidFill>
                      <a:srgbClr val="1B4079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вставка корректного заказа</a:t>
                      </a:r>
                      <a:endParaRPr/>
                    </a:p>
                  </a:txBody>
                  <a:tcPr marT="45725" marB="45725" marR="91450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212121"/>
                          </a:solidFill>
                        </a:rPr>
                        <a:t>+</a:t>
                      </a:r>
                      <a:endParaRPr/>
                    </a:p>
                  </a:txBody>
                  <a:tcPr marT="45725" marB="45725" marR="91450" marL="109725" anchor="ctr"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ссылка на несуществующее меню</a:t>
                      </a:r>
                      <a:endParaRPr/>
                    </a:p>
                  </a:txBody>
                  <a:tcPr marT="45725" marB="45725" marR="91450" marL="109725" anchor="ctr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отклонено</a:t>
                      </a:r>
                      <a:endParaRPr/>
                    </a:p>
                  </a:txBody>
                  <a:tcPr marT="45725" marB="45725" marR="91450" marL="109725" anchor="ctr">
                    <a:solidFill>
                      <a:srgbClr val="F1F3F6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дубль телефона клиента</a:t>
                      </a:r>
                      <a:endParaRPr/>
                    </a:p>
                  </a:txBody>
                  <a:tcPr marT="45725" marB="45725" marR="91450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отклонено</a:t>
                      </a:r>
                      <a:endParaRPr/>
                    </a:p>
                  </a:txBody>
                  <a:tcPr marT="45725" marB="45725" marR="91450" marL="109725" anchor="ctr"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каскадное удаление заказа</a:t>
                      </a:r>
                      <a:endParaRPr/>
                    </a:p>
                  </a:txBody>
                  <a:tcPr marT="45725" marB="45725" marR="91450" marL="109725" anchor="ctr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212121"/>
                          </a:solidFill>
                        </a:rPr>
                        <a:t>+</a:t>
                      </a:r>
                      <a:endParaRPr/>
                    </a:p>
                  </a:txBody>
                  <a:tcPr marT="45725" marB="45725" marR="91450" marL="109725" anchor="ctr">
                    <a:solidFill>
                      <a:srgbClr val="F1F3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5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4079"/>
          </a:solidFill>
          <a:ln>
            <a:noFill/>
          </a:ln>
        </p:spPr>
        <p:txBody>
          <a:bodyPr anchorCtr="0" anchor="ctr" bIns="45700" lIns="502900" spcFirstLastPara="1" rIns="91425" wrap="square" tIns="1097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Заключение</a:t>
            </a:r>
            <a:endParaRPr/>
          </a:p>
        </p:txBody>
      </p:sp>
      <p:sp>
        <p:nvSpPr>
          <p:cNvPr id="188" name="Google Shape;188;p25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4A86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5"/>
          <p:cNvSpPr txBox="1"/>
          <p:nvPr/>
        </p:nvSpPr>
        <p:spPr>
          <a:xfrm>
            <a:off x="10911535" y="6400800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5F646E"/>
                </a:solidFill>
                <a:latin typeface="Calibri"/>
                <a:ea typeface="Calibri"/>
                <a:cs typeface="Calibri"/>
                <a:sym typeface="Calibri"/>
              </a:rPr>
              <a:t>13 / 14</a:t>
            </a:r>
            <a:endParaRPr/>
          </a:p>
        </p:txBody>
      </p:sp>
      <p:sp>
        <p:nvSpPr>
          <p:cNvPr id="190" name="Google Shape;190;p25"/>
          <p:cNvSpPr txBox="1"/>
          <p:nvPr/>
        </p:nvSpPr>
        <p:spPr>
          <a:xfrm>
            <a:off x="365760" y="640080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5F646E"/>
                </a:solidFill>
                <a:latin typeface="Calibri"/>
                <a:ea typeface="Calibri"/>
                <a:cs typeface="Calibri"/>
                <a:sym typeface="Calibri"/>
              </a:rPr>
              <a:t>База данных для кофейни · ЧУПО «ВШП»</a:t>
            </a:r>
            <a:endParaRPr/>
          </a:p>
        </p:txBody>
      </p:sp>
      <p:sp>
        <p:nvSpPr>
          <p:cNvPr id="191" name="Google Shape;191;p25"/>
          <p:cNvSpPr txBox="1"/>
          <p:nvPr/>
        </p:nvSpPr>
        <p:spPr>
          <a:xfrm>
            <a:off x="640080" y="1463040"/>
            <a:ext cx="5669400" cy="16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Что сделано</a:t>
            </a:r>
            <a:endParaRPr>
              <a:solidFill>
                <a:schemeClr val="dk1"/>
              </a:solidFill>
            </a:endParaRPr>
          </a:p>
          <a:p>
            <a:pPr indent="-33655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12121"/>
              </a:buClr>
              <a:buSzPts val="1700"/>
              <a:buFont typeface="Calibri"/>
              <a:buChar char="●"/>
            </a:pPr>
            <a:r>
              <a:rPr b="0" i="0" lang="en-US" sz="17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спроектирована и реализована БД из 7 таблиц</a:t>
            </a:r>
            <a:endParaRPr/>
          </a:p>
          <a:p>
            <a:pPr indent="-3365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700"/>
              <a:buFont typeface="Calibri"/>
              <a:buChar char="●"/>
            </a:pPr>
            <a:r>
              <a:rPr b="0" i="0" lang="en-US" sz="17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структура нормализована до 3НФ</a:t>
            </a:r>
            <a:endParaRPr/>
          </a:p>
          <a:p>
            <a:pPr indent="-3365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700"/>
              <a:buFont typeface="Calibri"/>
              <a:buChar char="●"/>
            </a:pPr>
            <a:r>
              <a:rPr b="0" i="0" lang="en-US" sz="17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целостность обеспечена ключами и ограничениями</a:t>
            </a:r>
            <a:endParaRPr/>
          </a:p>
          <a:p>
            <a:pPr indent="-3365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700"/>
              <a:buFont typeface="Calibri"/>
              <a:buChar char="●"/>
            </a:pPr>
            <a:r>
              <a:rPr b="0" i="0" lang="en-US" sz="17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написаны и протестированы рабочие запросы</a:t>
            </a:r>
            <a:endParaRPr/>
          </a:p>
        </p:txBody>
      </p:sp>
      <p:sp>
        <p:nvSpPr>
          <p:cNvPr id="192" name="Google Shape;192;p25"/>
          <p:cNvSpPr/>
          <p:nvPr/>
        </p:nvSpPr>
        <p:spPr>
          <a:xfrm>
            <a:off x="6309475" y="1463050"/>
            <a:ext cx="4937700" cy="2857800"/>
          </a:xfrm>
          <a:prstGeom prst="rect">
            <a:avLst/>
          </a:prstGeom>
          <a:solidFill>
            <a:srgbClr val="1B4079"/>
          </a:solidFill>
          <a:ln>
            <a:noFill/>
          </a:ln>
        </p:spPr>
        <p:txBody>
          <a:bodyPr anchorCtr="0" anchor="t" bIns="45700" lIns="274300" spcFirstLastPara="1" rIns="274300" wrap="square" tIns="2286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Перспективы</a:t>
            </a:r>
            <a:endParaRPr/>
          </a:p>
          <a:p>
            <a:pPr indent="-3302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Char char="●"/>
            </a:pPr>
            <a:r>
              <a:rPr b="0" i="0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БД </a:t>
            </a:r>
            <a:r>
              <a:rPr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b="0" i="0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готовое ядро для системы кофейни</a:t>
            </a:r>
            <a:endParaRPr/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Char char="●"/>
            </a:pPr>
            <a:r>
              <a:rPr b="0" i="0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можно добавить склад и поставщиков</a:t>
            </a:r>
            <a:endParaRPr/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Char char="●"/>
            </a:pPr>
            <a:r>
              <a:rPr b="0" i="0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программу лояльности и смены сотрудников</a:t>
            </a:r>
            <a:endParaRPr/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Char char="●"/>
            </a:pPr>
            <a:r>
              <a:rPr b="0" i="0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кассовый интерфейс и аналитику</a:t>
            </a:r>
            <a:endParaRPr/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Char char="●"/>
            </a:pPr>
            <a:r>
              <a:rPr b="0" i="0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всё </a:t>
            </a:r>
            <a:r>
              <a:rPr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b="0" i="0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новыми таблицами, без переделки схемы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4079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6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86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6"/>
          <p:cNvSpPr txBox="1"/>
          <p:nvPr/>
        </p:nvSpPr>
        <p:spPr>
          <a:xfrm>
            <a:off x="731520" y="822960"/>
            <a:ext cx="6949500" cy="19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Репозиторий проекта</a:t>
            </a:r>
            <a:endParaRPr/>
          </a:p>
          <a:p>
            <a:pPr indent="0" lvl="0" marL="0" marR="0" rtl="0" algn="l">
              <a:spcBef>
                <a:spcPts val="2400"/>
              </a:spcBef>
              <a:spcAft>
                <a:spcPts val="0"/>
              </a:spcAft>
              <a:buNone/>
            </a:pPr>
            <a:r>
              <a:rPr b="1" i="0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https://github.com/88venom14/database-coffee-shop-practic</a:t>
            </a:r>
            <a:endParaRPr/>
          </a:p>
          <a:p>
            <a:pPr indent="0" lvl="0" marL="0" marR="0" rtl="0" algn="l">
              <a:spcBef>
                <a:spcPts val="3000"/>
              </a:spcBef>
              <a:spcAft>
                <a:spcPts val="0"/>
              </a:spcAft>
              <a:buNone/>
            </a:pPr>
            <a:r>
              <a:rPr b="1" i="0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Спасибо за внимание!</a:t>
            </a:r>
            <a:endParaRPr/>
          </a:p>
        </p:txBody>
      </p:sp>
      <p:pic>
        <p:nvPicPr>
          <p:cNvPr descr="repo_qr.png" id="199" name="Google Shape;19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61370" y="1521026"/>
            <a:ext cx="3815950" cy="3815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